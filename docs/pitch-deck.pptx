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</a:rPr>
              <a:t>VENDOR QUERY RESOLUTION PLATFORM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Query Assistant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DD6"/>
                </a:solidFill>
              </a:rPr>
              <a:t>Self-service invoice, payment &amp; Form 16A / Form 26AS / TDS resolution — grounded in live SAP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251960"/>
            <a:ext cx="18288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Prepared for [Client Name]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2"/>
                </a:solidFill>
              </a:rPr>
              <a:t>Veltriance  ·  Business Proposal &amp; Commercials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01368"/>
            <a:ext cx="292608" cy="292608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01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9"/>
                </a:solidFill>
              </a:rPr>
              <a:t>The challenge — how vendor queries are handled today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292608" cy="292608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9"/>
                </a:solidFill>
              </a:rPr>
              <a:t>The solution — Vendor Query Assistant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292608" cy="292608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07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788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9"/>
                </a:solidFill>
              </a:rPr>
              <a:t>How it works, and what it can answer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292608" cy="292608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10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9"/>
                </a:solidFill>
              </a:rPr>
              <a:t>Security, compliance &amp; trustworthy AI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13048"/>
            <a:ext cx="292608" cy="292608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13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794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9"/>
                </a:solidFill>
              </a:rPr>
              <a:t>The Business Support command center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315968"/>
            <a:ext cx="292608" cy="292608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315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9"/>
                </a:solidFill>
              </a:rPr>
              <a:t>Reference architecture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818888"/>
            <a:ext cx="292608" cy="292608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818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800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9"/>
                </a:solidFill>
              </a:rPr>
              <a:t>Expected impact &amp; ROI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321808"/>
            <a:ext cx="292608" cy="292608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321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5303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9"/>
                </a:solidFill>
              </a:rPr>
              <a:t>Implementation roadmap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824728"/>
            <a:ext cx="292608" cy="292608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824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5806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9"/>
                </a:solidFill>
              </a:rPr>
              <a:t>Commercials — three pricing options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queries today are slow, manual, and untracked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54864" cy="1783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</a:rPr>
              <a:t>No self-service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</a:rPr>
              <a:t>Vendors email or call for invoice status, payment status, and Form 16A / Form 26AS / TDS — there is no way for them to check it themselves.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78308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1783080"/>
            <a:ext cx="54864" cy="1783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</a:rPr>
              <a:t>Manual, one-by-one handling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23774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</a:rPr>
              <a:t>Business Support manually searches SAP and replies over email, one query at a time — with no queue, no priority, no SLA.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49040"/>
            <a:ext cx="54864" cy="1783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</a:rPr>
              <a:t>No visibility or audit trail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</a:rPr>
              <a:t>There's no record of who asked what, how long it took, or whether it was ever actually resolved.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374904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3749040"/>
            <a:ext cx="54864" cy="1783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</a:rPr>
              <a:t>Vendor dissatisfaction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434340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C"/>
                </a:solidFill>
              </a:rPr>
              <a:t>Days-long response times on simple payment or TDS certificate questions strain supplier relationships and invite escalation.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Query Assistant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9"/>
                </a:solidFill>
              </a:rPr>
              <a:t>A self-service portal that gives [Client Name]'s suppliers instant, accurate answers — pulled live from SAP, with an optional AI chat layer that only rewords already-verified SAP data. It never invents a fact.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146304" cy="146304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06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9"/>
                </a:solidFill>
              </a:rPr>
              <a:t>Two-factor vendor verification — vendor code + PAN/GSTIN, one-time code to the email already on file in SAP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38144"/>
            <a:ext cx="146304" cy="146304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83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9"/>
                </a:solidFill>
              </a:rPr>
              <a:t>Every SAP-backed answer is real-time — no cached, sample, or seeded data reaches a vendor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15384"/>
            <a:ext cx="146304" cy="146304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60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9"/>
                </a:solidFill>
              </a:rPr>
              <a:t>Anything the system can't resolve becomes a tracked, SLA-bound ticket automatically — nothing falls through email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92624"/>
            <a:ext cx="146304" cy="146304"/>
          </a:xfrm>
          <a:prstGeom prst="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937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9"/>
                </a:solidFill>
              </a:rPr>
              <a:t>A live SLA dashboard gives Business Support full visibility into volume, resolution time, and escalations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steps, every time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35204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9"/>
                </a:solidFill>
              </a:rPr>
              <a:t>Verify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C"/>
                </a:solidFill>
              </a:rPr>
              <a:t>Vendor code + PAN/GSTIN checked against the SAP vendor master, then a one-time code to the email on file.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3429000"/>
            <a:ext cx="201168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79392" y="1920240"/>
            <a:ext cx="35204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3712" y="2194560"/>
            <a:ext cx="502920" cy="502920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53712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9"/>
                </a:solidFill>
              </a:rPr>
              <a:t>Ask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3712" y="33375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C"/>
                </a:solidFill>
              </a:rPr>
              <a:t>Pick invoice status, payment status, Form 16A / Form 26AS / TDS, or a full account statement — or just type the question.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45552" y="3429000"/>
            <a:ext cx="201168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10144" y="1920240"/>
            <a:ext cx="35204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4464" y="2194560"/>
            <a:ext cx="502920" cy="502920"/>
          </a:xfrm>
          <a:prstGeom prst="ellipse">
            <a:avLst/>
          </a:prstGeom>
          <a:solidFill>
            <a:srgbClr val="0F1729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84464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9"/>
                </a:solidFill>
              </a:rPr>
              <a:t>Get an answer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84464" y="33375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7C"/>
                </a:solidFill>
              </a:rPr>
              <a:t>A live SAP lookup resolves it on the spot — or opens a tracked ticket, with an SLA clock, if it needs a person.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KEY CAPABILITIES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vendors can do, self-service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</a:rPr>
              <a:t>Invoice Status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C"/>
                </a:solidFill>
              </a:rPr>
              <a:t>Real-time approval &amp; GRN-match status, block/rejection reason, straight from SAP.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78308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</a:rPr>
              <a:t>Payment Status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24231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C"/>
                </a:solidFill>
              </a:rPr>
              <a:t>Cleared, scheduled, on hold, or open — with bank reference and clearing date.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10144" y="178308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</a:rPr>
              <a:t>Form 16A / 26AS / TDS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38744" y="24231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C"/>
                </a:solidFill>
              </a:rPr>
              <a:t>Certificate availability, TDS amount, and download — by financial year and quarter.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14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</a:rPr>
              <a:t>Account Statement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572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C"/>
                </a:solidFill>
              </a:rPr>
              <a:t>Full statement for any date range, aging summary, and payable this month/quarter.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79392" y="393192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4114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</a:rPr>
              <a:t>Submitted / Paid / Pending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07992" y="4572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C"/>
                </a:solidFill>
              </a:rPr>
              <a:t>Every invoice submitted, paid (with payment date), or pending approval — one-click Excel export.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10144" y="393192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38744" y="4114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9"/>
                </a:solidFill>
              </a:rPr>
              <a:t>AI Chat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38744" y="4572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C"/>
                </a:solidFill>
              </a:rPr>
              <a:t>Ask in plain English — grounded strictly in the same live SAP data, never fabricates.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SECURITY &amp; TRUST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never show a vendor the wrong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VERIFICATION &amp; DATA ISOLATION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80760" y="1691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TRUSTWORTHY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57984"/>
            <a:ext cx="128016" cy="128016"/>
          </a:xfrm>
          <a:prstGeom prst="rect">
            <a:avLst>
              <a:gd name="adj" fmla="val 21429"/>
            </a:avLst>
          </a:prstGeom>
          <a:solidFill>
            <a:srgbClr val="0F172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03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9"/>
                </a:solidFill>
              </a:rPr>
              <a:t>Two-factor identity check — vendor code + PAN/GSTIN against SAP, plus a one-time code to the email SAP already has on file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128016" cy="128016"/>
          </a:xfrm>
          <a:prstGeom prst="rect">
            <a:avLst>
              <a:gd name="adj" fmla="val 21429"/>
            </a:avLst>
          </a:prstGeom>
          <a:solidFill>
            <a:srgbClr val="0F172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5468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9"/>
                </a:solidFill>
              </a:rPr>
              <a:t>Every request is scoped server-side to the verified vendor — one supplier can never see another's data, even by guessing a reference number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61104"/>
            <a:ext cx="128016" cy="128016"/>
          </a:xfrm>
          <a:prstGeom prst="rect">
            <a:avLst>
              <a:gd name="adj" fmla="val 21429"/>
            </a:avLst>
          </a:prstGeom>
          <a:solidFill>
            <a:srgbClr val="0F172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9"/>
                </a:solidFill>
              </a:rPr>
              <a:t>PAN, GSTIN, and email are masked everywhere they're logged or displayed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312664"/>
            <a:ext cx="128016" cy="128016"/>
          </a:xfrm>
          <a:prstGeom prst="rect">
            <a:avLst>
              <a:gd name="adj" fmla="val 21429"/>
            </a:avLst>
          </a:prstGeom>
          <a:solidFill>
            <a:srgbClr val="0F172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2578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9"/>
                </a:solidFill>
              </a:rPr>
              <a:t>Every query and every access attempt is written to a compliance audit trail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157984"/>
            <a:ext cx="128016" cy="128016"/>
          </a:xfrm>
          <a:prstGeom prst="rect">
            <a:avLst>
              <a:gd name="adj" fmla="val 21429"/>
            </a:avLst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1031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9"/>
                </a:solidFill>
              </a:rPr>
              <a:t>The AI layer only classifies intent and rewords an already-verified SAP answer — it never generates a fact on its 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3209544"/>
            <a:ext cx="128016" cy="128016"/>
          </a:xfrm>
          <a:prstGeom prst="rect">
            <a:avLst>
              <a:gd name="adj" fmla="val 21429"/>
            </a:avLst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15468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9"/>
                </a:solidFill>
              </a:rPr>
              <a:t>If SAP isn't reachable, or a record doesn't exist, the assistant says so — it never fabricates a plausible-sounding answer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4261104"/>
            <a:ext cx="128016" cy="128016"/>
          </a:xfrm>
          <a:prstGeom prst="rect">
            <a:avLst>
              <a:gd name="adj" fmla="val 21429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2062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9"/>
                </a:solidFill>
              </a:rPr>
              <a:t>Session cookies are signed, httpOnly, and expire after 30 minutes of inactivity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5312664"/>
            <a:ext cx="128016" cy="128016"/>
          </a:xfrm>
          <a:prstGeom prst="rect">
            <a:avLst>
              <a:gd name="adj" fmla="val 21429"/>
            </a:avLst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52578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9"/>
                </a:solidFill>
              </a:rPr>
              <a:t>Failed verification attempts are rate-limited and logged (masked) for traceability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BUSINESS SUPPORT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command center, not an inbox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54864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9"/>
                </a:solidFill>
              </a:rPr>
              <a:t>Live SLA dashboard — auto-resolution rate, average resolution time, escalation rate, and volume by query 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97480"/>
            <a:ext cx="54864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974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9"/>
                </a:solidFill>
              </a:rPr>
              <a:t>Ticket queue with assignment, resolution notes, and automatic email notification to the vendor on close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66160"/>
            <a:ext cx="54864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661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9"/>
                </a:solidFill>
              </a:rPr>
              <a:t>Full query log and compliance audit trail — every interaction, searchable and exportable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434840"/>
            <a:ext cx="54864" cy="7315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348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F1729"/>
                </a:solidFill>
              </a:rPr>
              <a:t>Personal saved filter views and one-click CSV / PDF / PPT export for management reviews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REFERENCE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fits around SAP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29260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2225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</a:rPr>
              <a:t>Vendors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Web browser — self-service chat portal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77640" y="1828800"/>
            <a:ext cx="29260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2225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920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</a:rPr>
              <a:t>Business Support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Web browser — SLA &amp; ticket 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0" y="1828800"/>
            <a:ext cx="42062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2225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</a:rPr>
              <a:t>Email Notifications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5236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OTP codes and ticket-resolution updates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463040" y="3063240"/>
            <a:ext cx="8503920" cy="914400"/>
          </a:xfrm>
          <a:prstGeom prst="roundRect">
            <a:avLst>
              <a:gd name="adj" fmla="val 5000"/>
            </a:avLst>
          </a:prstGeom>
          <a:solidFill>
            <a:srgbClr val="0F1729"/>
          </a:solidFill>
          <a:ln w="22225">
            <a:solidFill>
              <a:srgbClr val="E1E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Vendor Query Assistant Platform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600200" y="3474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8CDD6"/>
                </a:solidFill>
              </a:rPr>
              <a:t>Verification &amp; session security · query resolution engine · optional AI assistant · audit logging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463040" y="4434840"/>
            <a:ext cx="40233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2225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4526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</a:rPr>
              <a:t>SAP S/4HANA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600200" y="4846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Live OData integration — vendor master, invoices, payments, withholding tax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0" y="4434840"/>
            <a:ext cx="40233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4526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</a:rPr>
              <a:t>Business Support Dashboard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80760" y="4846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SLA tracking, ticket queue, analytics &amp; exports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03120" y="2651760"/>
            <a:ext cx="1554480" cy="41148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40680" y="2651760"/>
            <a:ext cx="0" cy="41148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15200" y="2651760"/>
            <a:ext cx="-1371600" cy="41148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474720" y="3977640"/>
            <a:ext cx="-182880" cy="45720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23760" y="3977640"/>
            <a:ext cx="731520" cy="457200"/>
          </a:xfrm>
          <a:prstGeom prst="line">
            <a:avLst/>
          </a:prstGeom>
          <a:noFill/>
          <a:ln w="19050">
            <a:solidFill>
              <a:srgbClr val="5B6B7C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</a:rPr>
              <a:t>Every answer is a live call against your SAP tenant — no cached, sample, or seeded data ever reaches a vendor in production.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IMPACT &amp; ROI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self-service is worth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 80–85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60E"/>
                </a:solidFill>
              </a:rPr>
              <a:t>Typical manual cost / query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9077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Fully-loaded agent time to search SAP &amp; reply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79392" y="178308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920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70–80%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07992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60E"/>
                </a:solidFill>
              </a:rPr>
              <a:t>Target auto-resolution rate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07992" y="29077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Industry-typical for a well-scoped self-service rollout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10144" y="178308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920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38744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860E"/>
                </a:solidFill>
              </a:rPr>
              <a:t>Response time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38744" y="29077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vs. hours to days over email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1109167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860E"/>
                </a:solidFill>
              </a:rPr>
              <a:t>ILLUSTRATIVE — AT ~1,000 ACTIVE VENDORS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9"/>
                </a:solidFill>
              </a:rPr>
              <a:t>~1,500 vendor queries/month × 75% auto-resolved ≈ 1,125 queries/month no longer needing agent time — worth roughly ₹ 90,000+/month (₹ 11 lakh+/year) of freed Accounts Payable team capacity, before counting faster vendor responses, fewer disputes, and a full compliance audit trail.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440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</a:rPr>
              <a:t>Illustrative, based on typical AP query volumes — validate against your actual team cost &amp; volume before relying on this figure.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IMPLEMENTATION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typical 8–10 week rollout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3060" y="2377440"/>
            <a:ext cx="8942832" cy="0"/>
          </a:xfrm>
          <a:prstGeom prst="line">
            <a:avLst/>
          </a:prstGeom>
          <a:noFill/>
          <a:ln w="25400">
            <a:solidFill>
              <a:srgbClr val="E1E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0764" y="2295144"/>
            <a:ext cx="164592" cy="16459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60E"/>
                </a:solidFill>
              </a:rPr>
              <a:t>Weeks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9"/>
                </a:solidFill>
              </a:rPr>
              <a:t>Discovery &amp; SAP Scoping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Confirm OData service availability, vendor master fields, and security requirements.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76472" y="2295144"/>
            <a:ext cx="164592" cy="16459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4348" y="26060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60E"/>
                </a:solidFill>
              </a:rPr>
              <a:t>Weeks 3–7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4348" y="2880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9"/>
                </a:solidFill>
              </a:rPr>
              <a:t>Build &amp; Integration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84348" y="34290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SAP connector, authentication, core query types, Business Support dashboard.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12180" y="2295144"/>
            <a:ext cx="164592" cy="16459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0056" y="26060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60E"/>
                </a:solidFill>
              </a:rPr>
              <a:t>Weeks 8–9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0056" y="2880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9"/>
                </a:solidFill>
              </a:rPr>
              <a:t>UAT &amp; Hardening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0056" y="34290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Client testing, security review, and load testing before go-live.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47888" y="2295144"/>
            <a:ext cx="164592" cy="16459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55764" y="26060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60E"/>
                </a:solidFill>
              </a:rPr>
              <a:t>Week 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55764" y="2880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9"/>
                </a:solidFill>
              </a:rPr>
              <a:t>Go-Live &amp; Training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55764" y="34290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Production cutover, Business Support training, vendor communication.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483596" y="2295144"/>
            <a:ext cx="164592" cy="16459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91472" y="26060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860E"/>
                </a:solidFill>
              </a:rPr>
              <a:t>+2 weeks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91472" y="28803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9"/>
                </a:solidFill>
              </a:rPr>
              <a:t>Hypercare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91472" y="34290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B7C"/>
                </a:solidFill>
              </a:rPr>
              <a:t>Close monitoring and fast-turnaround fixes right after go-live.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COMMERCIALS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pricing options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</a:rPr>
              <a:t>Illustrative pricing for discussion, based on a typical mid-size manufacturer with up to ~1,000 active vendors on a single SAP S/4HANA tenant. To be finalized after scoping — not a quote.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3520440" cy="502920"/>
          </a:xfrm>
          <a:prstGeom prst="rect">
            <a:avLst>
              <a:gd name="adj" fmla="val 9091"/>
            </a:avLst>
          </a:prstGeom>
          <a:solidFill>
            <a:srgbClr val="0F172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40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A. One-Time + AMC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9860E"/>
                </a:solidFill>
              </a:rPr>
              <a:t>OWN IT OUTRIGHT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729"/>
                </a:solidFill>
              </a:rPr>
              <a:t>Implementation: ₹ 15,00,000 (one-time)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729"/>
                </a:solidFill>
              </a:rPr>
              <a:t>Timeline: 8–10 weeks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729"/>
                </a:solidFill>
              </a:rPr>
              <a:t>Annual AMC (from Yr 2): ₹ 2,70,000/yr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729"/>
                </a:solidFill>
              </a:rPr>
              <a:t>+ Add'l plant rollout: ₹ 2,00,000 each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5349240"/>
            <a:ext cx="3063240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440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7C"/>
                </a:solidFill>
              </a:rPr>
              <a:t>Best if you want a owned asset and the lowest 3-year cost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79392" y="224028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9392" y="2240280"/>
            <a:ext cx="3520440" cy="502920"/>
          </a:xfrm>
          <a:prstGeom prst="rect">
            <a:avLst>
              <a:gd name="adj" fmla="val 9091"/>
            </a:avLst>
          </a:prstGeom>
          <a:solidFill>
            <a:srgbClr val="0F1729"/>
          </a:solidFill>
          <a:ln/>
        </p:spPr>
      </p:sp>
      <p:sp>
        <p:nvSpPr>
          <p:cNvPr id="16" name="Text 14"/>
          <p:cNvSpPr/>
          <p:nvPr/>
        </p:nvSpPr>
        <p:spPr>
          <a:xfrm>
            <a:off x="4462272" y="2240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B. SaaS Subscription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07992" y="2880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9860E"/>
                </a:solidFill>
              </a:rPr>
              <a:t>PREDICTABLE OPEX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07992" y="32004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729"/>
                </a:solidFill>
              </a:rPr>
              <a:t>Onboarding: ₹ 3,50,000 (one-time)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729"/>
                </a:solidFill>
              </a:rPr>
              <a:t>Growth tier (≤ 1,000 vendors):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729"/>
                </a:solidFill>
              </a:rPr>
              <a:t>₹ 85,000/month, billed annually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729"/>
                </a:solidFill>
              </a:rPr>
              <a:t>(₹ 8,67,000/year — incl. hosting &amp; support)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07992" y="5349240"/>
            <a:ext cx="3063240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5440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7C"/>
                </a:solidFill>
              </a:rPr>
              <a:t>Best for predictable opex, no large upfront capex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10144" y="224028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10144" y="2240280"/>
            <a:ext cx="3520440" cy="502920"/>
          </a:xfrm>
          <a:prstGeom prst="rect">
            <a:avLst>
              <a:gd name="adj" fmla="val 9091"/>
            </a:avLst>
          </a:prstGeom>
          <a:solidFill>
            <a:srgbClr val="0F1729"/>
          </a:solidFill>
          <a:ln/>
        </p:spPr>
      </p:sp>
      <p:sp>
        <p:nvSpPr>
          <p:cNvPr id="23" name="Text 21"/>
          <p:cNvSpPr/>
          <p:nvPr/>
        </p:nvSpPr>
        <p:spPr>
          <a:xfrm>
            <a:off x="8193024" y="22402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C. Usage-Based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38744" y="2880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9860E"/>
                </a:solidFill>
              </a:rPr>
              <a:t>PAY FOR WHAT'S USED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38744" y="32004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729"/>
                </a:solidFill>
              </a:rPr>
              <a:t>Platform base: ₹ 15,000/month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729"/>
                </a:solidFill>
              </a:rPr>
              <a:t>₹ 15 per auto-resolved query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729"/>
                </a:solidFill>
              </a:rPr>
              <a:t>₹ 100 per ticket escalated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0F1729"/>
                </a:solidFill>
              </a:rPr>
              <a:t>Typical @1,000 vendors: ≈ ₹ 69,000/mo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38744" y="5349240"/>
            <a:ext cx="3063240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744" y="5440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7C"/>
                </a:solidFill>
              </a:rPr>
              <a:t>Best for piloting with uncertain adoption/volume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860E"/>
                </a:solidFill>
              </a:rPr>
              <a:t>COMMERCIALS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total cost of ownership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2700">
            <a:solidFill>
              <a:srgbClr val="E1E3E6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03120"/>
                <a:gridCol w="2103120"/>
                <a:gridCol w="2103120"/>
                <a:gridCol w="231343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3-Year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</a:rPr>
                        <a:t>A. One-Time + AMC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</a:rPr>
                        <a:t>₹ 15,00,000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</a:rPr>
                        <a:t>₹ 2,70,000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</a:rPr>
                        <a:t>₹ 2,70,000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9"/>
                          </a:solidFill>
                        </a:rPr>
                        <a:t>₹ 20,40,000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</a:rPr>
                        <a:t>B. SaaS Subscription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</a:rPr>
                        <a:t>₹ 12,17,000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</a:rPr>
                        <a:t>₹ 8,67,000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</a:rPr>
                        <a:t>₹ 8,67,000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9"/>
                          </a:solidFill>
                        </a:rPr>
                        <a:t>₹ 29,51,000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</a:rPr>
                        <a:t>C. Usage-Based (typical)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</a:rPr>
                        <a:t>₹ 8,32,500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</a:rPr>
                        <a:t>₹ 8,32,500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9"/>
                          </a:solidFill>
                        </a:rPr>
                        <a:t>₹ 8,32,500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9"/>
                          </a:solidFill>
                        </a:rPr>
                        <a:t>₹ 24,97,500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977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9"/>
                </a:solidFill>
              </a:rPr>
              <a:t>Option A has the lowest 3-year cost but the largest upfront commitment. Option B trades a higher total for fully predictable, no-capex opex. Option C scales with actual usage — ideal while adoption is still ramping up.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663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</a:rPr>
              <a:t>All figures illustrative, for discussion only — final commercials depend on confirmed vendor volume, SAP landscape complexity, and scope agreed during Discovery.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schedule a scoping workshop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DD6"/>
                </a:solidFill>
              </a:rPr>
              <a:t>1. A short discovery call to confirm SAP landscape &amp; vendor volume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251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DD6"/>
                </a:solidFill>
              </a:rPr>
              <a:t>2. A tailored proposal with a firm commercial quote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DD6"/>
                </a:solidFill>
              </a:rPr>
              <a:t>3. Kickoff, with go-live typically 8–10 weeks out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18288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852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Veltriance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2"/>
                </a:solidFill>
              </a:rPr>
              <a:t>Thank you.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4B2"/>
                </a:solidFill>
              </a:rPr>
              <a:t>Vendor Query Assistant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2026-08-23T21:22:51Z</dcterms:created>
  <dcterms:modified xsi:type="dcterms:W3CDTF">2026-08-23T21:22:51Z</dcterms:modified>
</cp:coreProperties>
</file>